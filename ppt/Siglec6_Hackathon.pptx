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CCCCCC"/>
                </a:solidFill>
              </a:rPr>
              <a:t>Scripps Research  ·  CBB Hackathon 2026  ·  May 29 – June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>
                <a:solidFill>
                  <a:srgbClr val="FFFFFF"/>
                </a:solidFill>
              </a:rPr>
              <a:t>In Silico Screening of Siglec-6 Ligands
Using Multi-Method Cofolding &amp; Docking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0">
                <a:solidFill>
                  <a:srgbClr val="CCCCCC"/>
                </a:solidFill>
              </a:rPr>
              <a:t>Boltz-2  ·  AlphaFold3  ·  AutoDock Vina  ·  Experimental Kd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CCCCCC"/>
                </a:solidFill>
              </a:rPr>
              <a:t>Suraj Ugrani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30352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CCCCCC"/>
                </a:solidFill>
              </a:rPr>
              <a:t>Julien Heberling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A23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A23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16128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Computational Pipeline 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777240"/>
            <a:ext cx="2926080" cy="685800"/>
          </a:xfrm>
          <a:prstGeom prst="roundRect">
            <a:avLst>
              <a:gd name="adj" fmla="val 8000"/>
            </a:avLst>
          </a:prstGeom>
          <a:solidFill>
            <a:srgbClr val="0F3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777240"/>
            <a:ext cx="2926080" cy="685800"/>
          </a:xfrm>
          <a:prstGeom prst="rect">
            <a:avLst/>
          </a:prstGeom>
          <a:noFill/>
        </p:spPr>
        <p:txBody>
          <a:bodyPr wrap="square" tIns="17145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Siglec-6 Protein  (FASTA)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333 residues  ·  Vtype + C2type1 + C2type2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777240"/>
            <a:ext cx="2377440" cy="685800"/>
          </a:xfrm>
          <a:prstGeom prst="roundRect">
            <a:avLst>
              <a:gd name="adj" fmla="val 8000"/>
            </a:avLst>
          </a:prstGeom>
          <a:solidFill>
            <a:srgbClr val="0F3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777240"/>
            <a:ext cx="2377440" cy="685800"/>
          </a:xfrm>
          <a:prstGeom prst="rect">
            <a:avLst/>
          </a:prstGeom>
          <a:noFill/>
        </p:spPr>
        <p:txBody>
          <a:bodyPr wrap="square" tIns="17145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14-Compound Library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13 analogs + sialic acid control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777240"/>
            <a:ext cx="2377440" cy="685800"/>
          </a:xfrm>
          <a:prstGeom prst="roundRect">
            <a:avLst>
              <a:gd name="adj" fmla="val 8000"/>
            </a:avLst>
          </a:prstGeom>
          <a:solidFill>
            <a:srgbClr val="0F3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777240"/>
            <a:ext cx="2377440" cy="685800"/>
          </a:xfrm>
          <a:prstGeom prst="rect">
            <a:avLst/>
          </a:prstGeom>
          <a:noFill/>
        </p:spPr>
        <p:txBody>
          <a:bodyPr wrap="square" tIns="17145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Pre-computed MSA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(ColabFold  ·  .a3m format)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28800" y="1463040"/>
            <a:ext cx="0" cy="365760"/>
          </a:xfrm>
          <a:prstGeom prst="line">
            <a:avLst/>
          </a:prstGeom>
          <a:ln w="25400">
            <a:solidFill>
              <a:srgbClr val="8888AA"/>
            </a:solidFill>
            <a:tailEnd type="triangle" w="med" len="med"/>
            <a:head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1463040"/>
            <a:ext cx="0" cy="365760"/>
          </a:xfrm>
          <a:prstGeom prst="line">
            <a:avLst/>
          </a:prstGeom>
          <a:ln w="25400">
            <a:solidFill>
              <a:srgbClr val="8888AA"/>
            </a:solidFill>
            <a:tailEnd type="triangle" w="med" len="med"/>
            <a:head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63040"/>
            <a:ext cx="0" cy="365760"/>
          </a:xfrm>
          <a:prstGeom prst="line">
            <a:avLst/>
          </a:prstGeom>
          <a:ln w="25400">
            <a:solidFill>
              <a:srgbClr val="8888AA"/>
            </a:solidFill>
            <a:tailEnd type="triangle" w="med" len="med"/>
            <a:head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74320" y="1600200"/>
            <a:ext cx="9144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50" b="1">
                <a:solidFill>
                  <a:srgbClr val="CCCCCC"/>
                </a:solidFill>
              </a:rPr>
              <a:t>COFOLDING  (protein + ligand structure prediction)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1828800"/>
            <a:ext cx="2743200" cy="1005840"/>
          </a:xfrm>
          <a:prstGeom prst="roundRect">
            <a:avLst>
              <a:gd name="adj" fmla="val 8000"/>
            </a:avLst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1828800"/>
            <a:ext cx="2743200" cy="1005840"/>
          </a:xfrm>
          <a:prstGeom prst="rect">
            <a:avLst/>
          </a:prstGeom>
          <a:noFill/>
        </p:spPr>
        <p:txBody>
          <a:bodyPr wrap="square" tIns="251460" bIns="0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</a:rPr>
              <a:t>Boltz-2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Open-source  ·  AWS EC2 g5.xlarge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Docker  ·  GPU  ·  ColabFold MSA input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0" y="1828800"/>
            <a:ext cx="2743200" cy="1005840"/>
          </a:xfrm>
          <a:prstGeom prst="roundRect">
            <a:avLst>
              <a:gd name="adj" fmla="val 8000"/>
            </a:avLst>
          </a:prstGeom>
          <a:solidFill>
            <a:srgbClr val="A23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1828800"/>
            <a:ext cx="2743200" cy="1005840"/>
          </a:xfrm>
          <a:prstGeom prst="rect">
            <a:avLst/>
          </a:prstGeom>
          <a:noFill/>
        </p:spPr>
        <p:txBody>
          <a:bodyPr wrap="square" tIns="251460" bIns="0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</a:rPr>
              <a:t>AlphaFold3  (AF3-MSA)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AF3 server  ·  built-in MSA search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Automated MSA pipeline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0" y="1828800"/>
            <a:ext cx="2743200" cy="1005840"/>
          </a:xfrm>
          <a:prstGeom prst="roundRect">
            <a:avLst>
              <a:gd name="adj" fmla="val 8000"/>
            </a:avLst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0" y="1828800"/>
            <a:ext cx="2743200" cy="1005840"/>
          </a:xfrm>
          <a:prstGeom prst="rect">
            <a:avLst/>
          </a:prstGeom>
          <a:noFill/>
        </p:spPr>
        <p:txBody>
          <a:bodyPr wrap="square" tIns="251460" bIns="0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</a:rPr>
              <a:t>AlphaFold3  (ColabFold-MSA)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AF3 server  ·  pre-computed MSA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Same MSA as Boltz-2 input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0" y="3017520"/>
            <a:ext cx="4114800" cy="594360"/>
          </a:xfrm>
          <a:prstGeom prst="roundRect">
            <a:avLst>
              <a:gd name="adj" fmla="val 8000"/>
            </a:avLst>
          </a:prstGeom>
          <a:solidFill>
            <a:srgbClr val="2A2A4A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0" y="3017520"/>
            <a:ext cx="4114800" cy="594360"/>
          </a:xfrm>
          <a:prstGeom prst="rect">
            <a:avLst/>
          </a:prstGeom>
          <a:noFill/>
        </p:spPr>
        <p:txBody>
          <a:bodyPr wrap="square" tIns="14859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42 Predicted Structures   (14 ligands  ×  3 methods)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737360" y="2834640"/>
            <a:ext cx="3520440" cy="182880"/>
          </a:xfrm>
          <a:prstGeom prst="line">
            <a:avLst/>
          </a:prstGeom>
          <a:ln w="25400">
            <a:solidFill>
              <a:srgbClr val="8888AA"/>
            </a:solidFill>
            <a:tailEnd type="triangle" w="med" len="med"/>
            <a:head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029200" y="2834640"/>
            <a:ext cx="228600" cy="182880"/>
          </a:xfrm>
          <a:prstGeom prst="line">
            <a:avLst/>
          </a:prstGeom>
          <a:ln w="25400">
            <a:solidFill>
              <a:srgbClr val="8888AA"/>
            </a:solidFill>
            <a:tailEnd type="triangle" w="med" len="med"/>
            <a:head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5257800" y="2834640"/>
            <a:ext cx="3063240" cy="182880"/>
          </a:xfrm>
          <a:prstGeom prst="line">
            <a:avLst/>
          </a:prstGeom>
          <a:ln w="25400">
            <a:solidFill>
              <a:srgbClr val="8888AA"/>
            </a:solidFill>
            <a:tailEnd type="triangle" w="med" len="med"/>
            <a:head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74320" y="3749039"/>
            <a:ext cx="2743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50" b="1">
                <a:solidFill>
                  <a:srgbClr val="CCCCCC"/>
                </a:solidFill>
              </a:rPr>
              <a:t>ANALYSIS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388620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2D93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3886200"/>
            <a:ext cx="3017520" cy="914400"/>
          </a:xfrm>
          <a:prstGeom prst="rect">
            <a:avLst/>
          </a:prstGeom>
          <a:noFill/>
        </p:spPr>
        <p:txBody>
          <a:bodyPr wrap="square" tIns="228600" bIns="0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</a:rPr>
              <a:t>Confidence Scoring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iPTM  ·  pLDDT  ·  Boltz-2 affinity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AF3 ranking score  ·  PAE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0" y="388620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44B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0" y="3886200"/>
            <a:ext cx="3017520" cy="914400"/>
          </a:xfrm>
          <a:prstGeom prst="rect">
            <a:avLst/>
          </a:prstGeom>
          <a:noFill/>
        </p:spPr>
        <p:txBody>
          <a:bodyPr wrap="square" tIns="228600" bIns="0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</a:rPr>
              <a:t>AutoDock Vina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Local-only (minimized pose)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Redocking (SMILES conformer)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95160" y="388620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E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60" y="3886200"/>
            <a:ext cx="3017520" cy="914400"/>
          </a:xfrm>
          <a:prstGeom prst="rect">
            <a:avLst/>
          </a:prstGeom>
          <a:noFill/>
        </p:spPr>
        <p:txBody>
          <a:bodyPr wrap="square" tIns="228600" bIns="0">
            <a:spAutoFit/>
          </a:bodyPr>
          <a:lstStyle/>
          <a:p>
            <a:pPr algn="ctr"/>
            <a:r>
              <a:rPr sz="850" b="0">
                <a:solidFill>
                  <a:srgbClr val="FFFFFF"/>
                </a:solidFill>
              </a:rPr>
              <a:t>Experimental Validation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Spearman / Pearson correlation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vs Kd  (n = 13 compounds, SPR)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1874520" y="3611880"/>
            <a:ext cx="3383280" cy="274320"/>
          </a:xfrm>
          <a:prstGeom prst="line">
            <a:avLst/>
          </a:prstGeom>
          <a:ln w="25400">
            <a:solidFill>
              <a:srgbClr val="8888AA"/>
            </a:solidFill>
            <a:tailEnd type="triangle" w="med" len="med"/>
            <a:head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5166360" y="3611880"/>
            <a:ext cx="91440" cy="274320"/>
          </a:xfrm>
          <a:prstGeom prst="line">
            <a:avLst/>
          </a:prstGeom>
          <a:ln w="25400">
            <a:solidFill>
              <a:srgbClr val="8888AA"/>
            </a:solidFill>
            <a:tailEnd type="triangle" w="med" len="med"/>
            <a:head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257800" y="3611880"/>
            <a:ext cx="3246120" cy="274320"/>
          </a:xfrm>
          <a:prstGeom prst="line">
            <a:avLst/>
          </a:prstGeom>
          <a:ln w="25400">
            <a:solidFill>
              <a:srgbClr val="8888AA"/>
            </a:solidFill>
            <a:tailEnd type="triangle" w="med" len="med"/>
            <a:head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65760" y="4983480"/>
            <a:ext cx="10972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50" b="0">
                <a:solidFill>
                  <a:srgbClr val="CCCCCC"/>
                </a:solidFill>
              </a:rPr>
              <a:t>★  Contact Analysis (gemmi distance search)  →  hot-spot residues contacted by multiple ligands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309360"/>
            <a:ext cx="164592" cy="164592"/>
          </a:xfrm>
          <a:prstGeom prst="roundRect">
            <a:avLst>
              <a:gd name="adj" fmla="val 8000"/>
            </a:avLst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6291072"/>
            <a:ext cx="2286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50" b="0">
                <a:solidFill>
                  <a:srgbClr val="CCCCCC"/>
                </a:solidFill>
              </a:rPr>
              <a:t>Boltz-2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83280" y="6309360"/>
            <a:ext cx="164592" cy="164592"/>
          </a:xfrm>
          <a:prstGeom prst="roundRect">
            <a:avLst>
              <a:gd name="adj" fmla="val 8000"/>
            </a:avLst>
          </a:prstGeom>
          <a:solidFill>
            <a:srgbClr val="A23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11880" y="6291072"/>
            <a:ext cx="2286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50" b="0">
                <a:solidFill>
                  <a:srgbClr val="CCCCCC"/>
                </a:solidFill>
              </a:rPr>
              <a:t>AF3 + AF3-MSA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09360" y="6309360"/>
            <a:ext cx="164592" cy="164592"/>
          </a:xfrm>
          <a:prstGeom prst="roundRect">
            <a:avLst>
              <a:gd name="adj" fmla="val 8000"/>
            </a:avLst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37960" y="6291072"/>
            <a:ext cx="2286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50" b="0">
                <a:solidFill>
                  <a:srgbClr val="CCCCCC"/>
                </a:solidFill>
              </a:rPr>
              <a:t>AF3 + ColabFold-MSA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A23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FFFFFF"/>
                </a:solidFill>
              </a:rPr>
              <a:t>Confidence Rankings — All 3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CCCCCC"/>
                </a:solidFill>
              </a:rPr>
              <a:t>Boltz-2 iPTM  ·  AF3 iPTM (both conditions)  ·  Boltz-2 predicted affinity</a:t>
            </a:r>
          </a:p>
        </p:txBody>
      </p:sp>
      <p:pic>
        <p:nvPicPr>
          <p:cNvPr id="6" name="Picture 5" descr="fig_confidence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40312" cy="5257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73952"/>
            <a:ext cx="11430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CCCCCC"/>
                </a:solidFill>
              </a:rPr>
              <a:t>Left: dashed lines = sialic acid (control) iPTM per method. Right: Boltz-2 affinity value (negative = predicted tighter binder). Top Boltz-2 hits: cpd_4, cpd_1, cpd_9.  AF3 top hit: cpd_10, sa.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A23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FFFFFF"/>
                </a:solidFill>
              </a:rPr>
              <a:t>Where Do the Ligands Bind? — All 14 Compounds Overlaid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CCCCCC"/>
                </a:solidFill>
              </a:rPr>
              <a:t>Receptors aligned by Cα  ·  Each sphere = ligand center of mass  ·  Color = iPTM confidence</a:t>
            </a:r>
          </a:p>
        </p:txBody>
      </p:sp>
      <p:pic>
        <p:nvPicPr>
          <p:cNvPr id="6" name="Picture 5" descr="fig_binding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11823192" cy="5577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73952"/>
            <a:ext cx="11430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CCCCCC"/>
                </a:solidFill>
              </a:rPr>
              <a:t>Faint trace = pocket residues within 20 Å of any ligand.  Tight cluster → consistent binding site prediction.  Bold labels = top 3 compounds by iPTM confidence per method.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A23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FFFFFF"/>
                </a:solidFill>
              </a:rPr>
              <a:t>AF3 Structural Divergence: Same Score, Different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CCCCCC"/>
                </a:solidFill>
              </a:rPr>
              <a:t>AF3-MSA vs AF3-ColabFold  |  Cα RMSD per ligand</a:t>
            </a:r>
          </a:p>
        </p:txBody>
      </p:sp>
      <p:pic>
        <p:nvPicPr>
          <p:cNvPr id="6" name="Picture 5" descr="fig_af3_di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7772400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18872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E86AB"/>
                </a:solidFill>
              </a:rPr>
              <a:t>• iPTM scores nearly identical (mean |Δ| = 0.034)</a:t>
            </a:r>
          </a:p>
          <a:p>
            <a:r>
              <a:rPr sz="1000" b="0">
                <a:solidFill>
                  <a:srgbClr val="CCCCCC"/>
                </a:solidFill>
              </a:rPr>
              <a:t>  similar confidence numbers hide structural disagreement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2E86AB"/>
                </a:solidFill>
              </a:rPr>
              <a:t>• Cα RMSD up to 77.9 Å — structurally completely different models</a:t>
            </a:r>
          </a:p>
          <a:p>
            <a:r>
              <a:rPr sz="1000" b="0">
                <a:solidFill>
                  <a:srgbClr val="CCCCCC"/>
                </a:solidFill>
              </a:rPr>
              <a:t>  7 of 14 ligands show RMSD &gt; 30 Å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2E86AB"/>
                </a:solidFill>
              </a:rPr>
              <a:t>• Conclusion: AF3 is confidently inconsistent</a:t>
            </a:r>
          </a:p>
          <a:p>
            <a:r>
              <a:rPr sz="1000" b="0">
                <a:solidFill>
                  <a:srgbClr val="CCCCCC"/>
                </a:solidFill>
              </a:rPr>
              <a:t>  two runs yield same score, different structure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A23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FFFFFF"/>
                </a:solidFill>
              </a:rPr>
              <a:t>Binding Site Hot-Spots — Contact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CCCCCC"/>
                </a:solidFill>
              </a:rPr>
              <a:t>Distance-based contacts (gemmi)  ·  Residues contacted across all 3 methods</a:t>
            </a:r>
          </a:p>
        </p:txBody>
      </p:sp>
      <p:pic>
        <p:nvPicPr>
          <p:cNvPr id="6" name="Picture 5" descr="contact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7772400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188720"/>
            <a:ext cx="374903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CCCCCC"/>
                </a:solidFill>
              </a:rPr>
              <a:t>● Consistent hot-spot residues (all 3 methods agree):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CCCCCC"/>
                </a:solidFill>
              </a:rPr>
              <a:t>● Method-specific hot-spots: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CCCCCC"/>
                </a:solidFill>
              </a:rPr>
              <a:t>● Compounds with CONSISTENT binding mode across methods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CCCCCC"/>
                </a:solidFill>
              </a:rPr>
              <a:t>● Compounds with DIVERGENT binding modes across methods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CCCCCC"/>
                </a:solidFill>
              </a:rPr>
              <a:t>● Boltz-2 binding clusters identified: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CCCCCC"/>
                </a:solidFill>
              </a:rPr>
              <a:t>● AF3 (both conditions) consistently predicts TRP127, TYR61, TYR62,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A23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FFFFFF"/>
                </a:solidFill>
              </a:rPr>
              <a:t>Computational Scores vs Experimental Kd  (n = 13)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CCCCCC"/>
                </a:solidFill>
              </a:rPr>
              <a:t>pKd = 6 − log₁₀(Kd µM)  ·  Higher pKd = tighter binding</a:t>
            </a:r>
          </a:p>
        </p:txBody>
      </p:sp>
      <p:pic>
        <p:nvPicPr>
          <p:cNvPr id="6" name="Picture 5" descr="fig_scatter_vs_k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11823192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A23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Summary &amp; Top Hits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86AB"/>
                </a:solidFill>
              </a:rPr>
              <a:t>Top Computational Hits — convergent across methods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FFFFFF"/>
                </a:solidFill>
              </a:rPr>
              <a:t>• cpd_3, cpd_6  (consistent mid-upper tier in Boltz-2 and both AF3 conditions)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53619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A23B72"/>
                </a:solidFill>
              </a:rPr>
              <a:t>Boltz-2-specific top hits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83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FFFFFF"/>
                </a:solidFill>
              </a:rPr>
              <a:t>• cpd_4  (#1 by iPTM, 0.963)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9696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FFFFFF"/>
                </a:solidFill>
              </a:rPr>
              <a:t>• cpd_1  (#2 by iPTM, 0.946)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505456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18F01"/>
                </a:solidFill>
              </a:rPr>
              <a:t>AF3-specific top hits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529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FFFFFF"/>
                </a:solidFill>
              </a:rPr>
              <a:t>• cpd_10  (#1–2 in both AF3-MSA and AF3-ColabFold conditions)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108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FFFFFF"/>
                </a:solidFill>
              </a:rPr>
              <a:t>• sa (sialic acid)  ranked highly by AF3, but contacts distinct site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82296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D93AD"/>
                </a:solidFill>
              </a:rPr>
              <a:t>Consistent binding site residues (all 3 methods)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1704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FFFFFF"/>
                </a:solidFill>
              </a:rPr>
              <a:t>• LYS124, TYR130, GLY131, TYR132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53619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44BF6E"/>
                </a:solidFill>
              </a:rPr>
              <a:t>Recommended for wet-lab follow-up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883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FFFFFF"/>
                </a:solidFill>
              </a:rPr>
              <a:t>• cpd_3, cpd_9, cpd_12  —  tight experimental Kd (4.7–12.8 µM) + reasonable computational scores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249424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83A3A"/>
                </a:solidFill>
              </a:rPr>
              <a:t>Key findings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596896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FFFFFF"/>
                </a:solidFill>
              </a:rPr>
              <a:t>• Sialic acid contacts a distinct sub-pocket — synthetic analogs may target a different site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8529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FFFFFF"/>
                </a:solidFill>
              </a:rPr>
              <a:t>• AF3 pose quality assessed by Vina local-only (minimized energy of predicted pose)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108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FFFFFF"/>
                </a:solidFill>
              </a:rPr>
              <a:t>• All 13 compounds show divergent binding modes across methods (Jaccard &lt; 0.2)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A23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5669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86AB"/>
                </a:solidFill>
              </a:rPr>
              <a:t>Cofolding — Boltz-2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FFFFFF"/>
                </a:solidFill>
              </a:rPr>
              <a:t>• Version: Boltz-2 (open-source, RCSB pre-release)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9903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FFFFFF"/>
                </a:solidFill>
              </a:rPr>
              <a:t>• Compute: AWS EC2 g5.xlarge (NVIDIA A10G GPU, 24 GB VRAM)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FFFFFF"/>
                </a:solidFill>
              </a:rPr>
              <a:t>• Runtime: ~8 min/ligand  ·  Docker container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9280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FFFFFF"/>
                </a:solidFill>
              </a:rPr>
              <a:t>• Input: FASTA protein + SMILES ligand + ColabFold .a3m MSA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231136"/>
            <a:ext cx="5669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A23B72"/>
                </a:solidFill>
              </a:rPr>
              <a:t>Cofolding — AlphaFold3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603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FFFFFF"/>
                </a:solidFill>
              </a:rPr>
              <a:t>• Version: AF3 web server (alphafoldserver.com), May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80720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FFFFFF"/>
                </a:solidFill>
              </a:rPr>
              <a:t>• Condition 1 (AF3-MSA): AF3 built-in MSA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540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FFFFFF"/>
                </a:solidFill>
              </a:rPr>
              <a:t>• Condition 2 (AF3-ColabFold): pre-computed MSA from ColabFold (same as Boltz-2)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0098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FFFFFF"/>
                </a:solidFill>
              </a:rPr>
              <a:t>• 42 jobs total (14 ligands × 3 methods)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639312"/>
            <a:ext cx="5669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D93AD"/>
                </a:solidFill>
              </a:rPr>
              <a:t>MSA / Sequence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9684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FFFFFF"/>
                </a:solidFill>
              </a:rPr>
              <a:t>• ColabFold MSA server (mmseqs2): pre-computed .a3m for Siglec-6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21538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FFFFFF"/>
                </a:solidFill>
              </a:rPr>
              <a:t>• FASTA: Siglec-6 Vtype + C2type1 + C2type2  (333 residues)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822960"/>
            <a:ext cx="5669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44BF6E"/>
                </a:solidFill>
              </a:rPr>
              <a:t>Docking — AutoDock Vina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115214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FFFFFF"/>
                </a:solidFill>
              </a:rPr>
              <a:t>• Local-only: predicted pose locally minimized (energy relaxation, no global search)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39903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FFFFFF"/>
                </a:solidFill>
              </a:rPr>
              <a:t>• Redock: SMILES conformer (RDKit ETKDGv3) docked into predicted pocket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16459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FFFFFF"/>
                </a:solidFill>
              </a:rPr>
              <a:t>• Box size: 30 × 30 × 30 Å centered on predicted ligand centroid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89280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FFFFFF"/>
                </a:solidFill>
              </a:rPr>
              <a:t>• Receptor prep: remove ligand from CIF, convert with Open Babel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231136"/>
            <a:ext cx="5669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83A3A"/>
                </a:solidFill>
              </a:rPr>
              <a:t>Experimental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5603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FFFFFF"/>
                </a:solidFill>
              </a:rPr>
              <a:t>• Kd values: SPR binding assay (n=13 compounds)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80720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FFFFFF"/>
                </a:solidFill>
              </a:rPr>
              <a:t>• Source: Hackathon dataset (Siglec-6 In Silico Library)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0540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FFFFFF"/>
                </a:solidFill>
              </a:rPr>
              <a:t>• No Kd for sialic acid (control excluded from correlation analysis)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392424"/>
            <a:ext cx="5669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8888AA"/>
                </a:solidFill>
              </a:rPr>
              <a:t>Contact Analysis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72160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FFFFFF"/>
                </a:solidFill>
              </a:rPr>
              <a:t>• Tool: gemmi (Python)  ·  distance cutoff 5 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9684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FFFFFF"/>
                </a:solidFill>
              </a:rPr>
              <a:t>• Residue-ligand contacts extracted from cofolded CIF/mmCIF structures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21538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FFFFFF"/>
                </a:solidFill>
              </a:rPr>
              <a:t>• Jaccard similarity computed for top-5 contacted residues per compound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